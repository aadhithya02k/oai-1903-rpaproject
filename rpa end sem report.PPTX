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embeddedFontLst>
    <p:embeddedFont>
      <p:font typeface="Open Sans ExtraBold"/>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OpenSansExtraBold-bold.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7241"/>
            <a:chOff x="-14748" y="986564"/>
            <a:chExt cx="9158748" cy="5457241"/>
          </a:xfrm>
        </p:grpSpPr>
        <p:sp>
          <p:nvSpPr>
            <p:cNvPr id="90" name="Google Shape;90;p13"/>
            <p:cNvSpPr txBox="1"/>
            <p:nvPr/>
          </p:nvSpPr>
          <p:spPr>
            <a:xfrm>
              <a:off x="177781" y="4812105"/>
              <a:ext cx="4322100" cy="163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Register No</a:t>
              </a:r>
              <a:r>
                <a:rPr b="1" lang="en-US" sz="2000">
                  <a:solidFill>
                    <a:schemeClr val="dk1"/>
                  </a:solidFill>
                  <a:latin typeface="Calibri"/>
                  <a:ea typeface="Calibri"/>
                  <a:cs typeface="Calibri"/>
                  <a:sym typeface="Calibri"/>
                </a:rPr>
                <a:t>:220701002</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Name:Aadhithya.Rk</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 Name:mrs.jinu sophia</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Designation and Department:assistant prof/CSE</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200">
                    <a:solidFill>
                      <a:schemeClr val="lt1"/>
                    </a:solidFill>
                    <a:latin typeface="Calibri"/>
                    <a:ea typeface="Calibri"/>
                    <a:cs typeface="Calibri"/>
                    <a:sym typeface="Calibri"/>
                  </a:rPr>
                  <a:t>     </a:t>
                </a:r>
                <a:r>
                  <a:rPr lang="en-US" sz="4500">
                    <a:solidFill>
                      <a:schemeClr val="lt1"/>
                    </a:solidFill>
                    <a:latin typeface="Calibri"/>
                    <a:ea typeface="Calibri"/>
                    <a:cs typeface="Calibri"/>
                    <a:sym typeface="Calibri"/>
                  </a:rPr>
                  <a:t>form</a:t>
                </a:r>
                <a:endParaRPr sz="4500">
                  <a:solidFill>
                    <a:schemeClr val="lt1"/>
                  </a:solidFill>
                  <a:latin typeface="Calibri"/>
                  <a:ea typeface="Calibri"/>
                  <a:cs typeface="Calibri"/>
                  <a:sym typeface="Calibri"/>
                </a:endParaRPr>
              </a:p>
              <a:p>
                <a:pPr indent="0" lvl="0" marL="0" marR="0" rtl="0" algn="ctr">
                  <a:spcBef>
                    <a:spcPts val="0"/>
                  </a:spcBef>
                  <a:spcAft>
                    <a:spcPts val="0"/>
                  </a:spcAft>
                  <a:buNone/>
                </a:pPr>
                <a:r>
                  <a:rPr lang="en-US" sz="4500">
                    <a:solidFill>
                      <a:schemeClr val="lt1"/>
                    </a:solidFill>
                    <a:latin typeface="Calibri"/>
                    <a:ea typeface="Calibri"/>
                    <a:cs typeface="Calibri"/>
                    <a:sym typeface="Calibri"/>
                  </a:rPr>
                  <a:t>     filling bot</a:t>
                </a:r>
                <a:endParaRPr sz="45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Title of the Project</a:t>
                </a:r>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0" lvl="0" marL="342900" rtl="0" algn="l">
              <a:lnSpc>
                <a:spcPct val="114000"/>
              </a:lnSpc>
              <a:spcBef>
                <a:spcPts val="0"/>
              </a:spcBef>
              <a:spcAft>
                <a:spcPts val="0"/>
              </a:spcAft>
              <a:buNone/>
            </a:pPr>
            <a:r>
              <a:rPr lang="en-US"/>
              <a:t>The Form-Filling Bot is an automated solution created using UiPath to streamline the process of completing and submitting forms. It addresses common challenges such as repetitive manual entry, errors, and delays. By extracting data from structured sources like spreadsheets or databases, the bot efficiently populates fields in online or desktop forms with high accuracy.The automation incorporates error-handling mechanisms to manage issues such as missing or invalid data, ensuring consistent performance. After completing its tasks, the bot generates detailed reports summarizing the status of each submission and highlighting any errors encountered. With scheduling capabilities provided by UiPath Orchestrator, the bot can operate autonomously, minimizing human intervention. This project highlights the potential of RPA to enhance productivity, reduce errors, and save time, making it a practical solution for organizations seeking to automate routine administrative tasks and improve efficiency in workflows.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0" lvl="0" marL="342900" rtl="0" algn="l">
              <a:lnSpc>
                <a:spcPct val="114000"/>
              </a:lnSpc>
              <a:spcBef>
                <a:spcPts val="0"/>
              </a:spcBef>
              <a:spcAft>
                <a:spcPts val="0"/>
              </a:spcAft>
              <a:buNone/>
            </a:pPr>
            <a:r>
              <a:rPr lang="en-US"/>
              <a:t>The proposed system introduces an automated solution using UiPath to streamline the form-filling process. The Form-Filling Bot extracts data from structured sources like databases and accurately populates fields in web-based or desktop forms. The bot handles scenarios, such as missing or incorrect data, and generates real-time status reports for form submission. By automating this workflow, the system reduces manual effort reduce errors, and ensures faster, more accurate form submissions. Additionally, with UiPath Orchestrator, the bot can be scheduled to run autonomously, improving efficiency and consistency across large-scale or recurring tasks. The proposed system also includes a logging mechanism to track the success or failure of each task, providing transparency accountability. By automating the entire process, the system enhances productivity, operational costs, and ensures timely completion of tasks, making it a reliable solution for businesses with high-volume form-filling needs.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lang="en-US"/>
              <a:t>1.Automates the job of form filling which reduces time.</a:t>
            </a:r>
            <a:endParaRPr/>
          </a:p>
          <a:p>
            <a:pPr indent="0" lvl="0" marL="342900" rtl="0" algn="l">
              <a:lnSpc>
                <a:spcPct val="114000"/>
              </a:lnSpc>
              <a:spcBef>
                <a:spcPts val="0"/>
              </a:spcBef>
              <a:spcAft>
                <a:spcPts val="0"/>
              </a:spcAft>
              <a:buNone/>
            </a:pPr>
            <a:r>
              <a:t/>
            </a:r>
            <a:endParaRPr/>
          </a:p>
          <a:p>
            <a:pPr indent="0" lvl="0" marL="342900" rtl="0" algn="l">
              <a:lnSpc>
                <a:spcPct val="114000"/>
              </a:lnSpc>
              <a:spcBef>
                <a:spcPts val="0"/>
              </a:spcBef>
              <a:spcAft>
                <a:spcPts val="0"/>
              </a:spcAft>
              <a:buNone/>
            </a:pPr>
            <a:r>
              <a:rPr lang="en-US"/>
              <a:t>2.Reduces manual error and typing error.</a:t>
            </a:r>
            <a:endParaRPr/>
          </a:p>
          <a:p>
            <a:pPr indent="0" lvl="0" marL="342900" rtl="0" algn="l">
              <a:lnSpc>
                <a:spcPct val="114000"/>
              </a:lnSpc>
              <a:spcBef>
                <a:spcPts val="0"/>
              </a:spcBef>
              <a:spcAft>
                <a:spcPts val="0"/>
              </a:spcAft>
              <a:buNone/>
            </a:pPr>
            <a:r>
              <a:t/>
            </a:r>
            <a:endParaRPr/>
          </a:p>
          <a:p>
            <a:pPr indent="0" lvl="0" marL="342900" rtl="0" algn="l">
              <a:lnSpc>
                <a:spcPct val="114000"/>
              </a:lnSpc>
              <a:spcBef>
                <a:spcPts val="0"/>
              </a:spcBef>
              <a:spcAft>
                <a:spcPts val="0"/>
              </a:spcAft>
              <a:buNone/>
            </a:pPr>
            <a:r>
              <a:rPr lang="en-US"/>
              <a:t>3.Large sets of data can be entered without heavy workload.</a:t>
            </a:r>
            <a:endParaRPr/>
          </a:p>
          <a:p>
            <a:pPr indent="0" lvl="0" marL="342900" rtl="0" algn="l">
              <a:lnSpc>
                <a:spcPct val="114000"/>
              </a:lnSpc>
              <a:spcBef>
                <a:spcPts val="0"/>
              </a:spcBef>
              <a:spcAft>
                <a:spcPts val="0"/>
              </a:spcAft>
              <a:buNone/>
            </a:pPr>
            <a:r>
              <a:t/>
            </a:r>
            <a:endParaRPr/>
          </a:p>
          <a:p>
            <a:pPr indent="0" lvl="0" marL="342900" rtl="0" algn="l">
              <a:lnSpc>
                <a:spcPct val="114000"/>
              </a:lnSpc>
              <a:spcBef>
                <a:spcPts val="0"/>
              </a:spcBef>
              <a:spcAft>
                <a:spcPts val="0"/>
              </a:spcAft>
              <a:buNone/>
            </a:pPr>
            <a:r>
              <a:rPr lang="en-US"/>
              <a:t>4.confirmation of the submission of form by receiving the mail </a:t>
            </a:r>
            <a:endParaRPr/>
          </a:p>
          <a:p>
            <a:pPr indent="0" lvl="0" marL="342900" rtl="0" algn="l">
              <a:lnSpc>
                <a:spcPct val="114000"/>
              </a:lnSpc>
              <a:spcBef>
                <a:spcPts val="0"/>
              </a:spcBef>
              <a:spcAft>
                <a:spcPts val="0"/>
              </a:spcAft>
              <a:buNone/>
            </a:pPr>
            <a:r>
              <a:rPr lang="en-US"/>
              <a:t> </a:t>
            </a:r>
            <a:endParaRPr/>
          </a:p>
          <a:p>
            <a:pPr indent="0" lvl="0" marL="342900" rtl="0" algn="l">
              <a:lnSpc>
                <a:spcPct val="114000"/>
              </a:lnSpc>
              <a:spcBef>
                <a:spcPts val="0"/>
              </a:spcBef>
              <a:spcAft>
                <a:spcPts val="0"/>
              </a:spcAft>
              <a:buNone/>
            </a:pPr>
            <a:r>
              <a:rPr lang="en-US"/>
              <a:t>   acknowledgement.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85000" lnSpcReduction="20000"/>
          </a:bodyPr>
          <a:lstStyle/>
          <a:p>
            <a:pPr indent="-190500" lvl="0" marL="342900" rtl="0" algn="l">
              <a:lnSpc>
                <a:spcPct val="114000"/>
              </a:lnSpc>
              <a:spcBef>
                <a:spcPts val="480"/>
              </a:spcBef>
              <a:spcAft>
                <a:spcPts val="0"/>
              </a:spcAft>
              <a:buClr>
                <a:schemeClr val="dk1"/>
              </a:buClr>
              <a:buSzPct val="88888"/>
              <a:buFont typeface="Noto Sans Symbols"/>
              <a:buNone/>
            </a:pPr>
            <a:r>
              <a:rPr lang="en-US"/>
              <a:t>1.</a:t>
            </a:r>
            <a:r>
              <a:rPr lang="en-US" sz="2700">
                <a:highlight>
                  <a:srgbClr val="FFFFFF"/>
                </a:highlight>
                <a:latin typeface="Arial"/>
                <a:ea typeface="Arial"/>
                <a:cs typeface="Arial"/>
                <a:sym typeface="Arial"/>
              </a:rPr>
              <a:t>Wang, S., Zou, Y., Keivanloo, I., </a:t>
            </a:r>
            <a:endParaRPr sz="2700">
              <a:highlight>
                <a:srgbClr val="FFFFFF"/>
              </a:highlight>
              <a:latin typeface="Arial"/>
              <a:ea typeface="Arial"/>
              <a:cs typeface="Arial"/>
              <a:sym typeface="Arial"/>
            </a:endParaRPr>
          </a:p>
          <a:p>
            <a:pPr indent="0" lvl="0" marL="0" rtl="0" algn="l">
              <a:lnSpc>
                <a:spcPct val="91064"/>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Upahyaya,  B.  and Ng,  J.  (2017)  ‘An intelligent  framework  for auto-filling  web  forms  from</a:t>
            </a:r>
            <a:endParaRPr sz="2700">
              <a:highlight>
                <a:srgbClr val="FFFFFF"/>
              </a:highlight>
              <a:latin typeface="Arial"/>
              <a:ea typeface="Arial"/>
              <a:cs typeface="Arial"/>
              <a:sym typeface="Arial"/>
            </a:endParaRPr>
          </a:p>
          <a:p>
            <a:pPr indent="0" lvl="0" marL="0" rtl="0" algn="l">
              <a:lnSpc>
                <a:spcPct val="91064"/>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different web applications’, Int. J. Business Process Integration and Management, Vol. 8, No. 1,</a:t>
            </a:r>
            <a:endParaRPr sz="2700">
              <a:highlight>
                <a:srgbClr val="FFFFFF"/>
              </a:highlight>
              <a:latin typeface="Arial"/>
              <a:ea typeface="Arial"/>
              <a:cs typeface="Arial"/>
              <a:sym typeface="Arial"/>
            </a:endParaRPr>
          </a:p>
          <a:p>
            <a:pPr indent="0" lvl="0" marL="0" rtl="0" algn="l">
              <a:lnSpc>
                <a:spcPct val="91064"/>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pp.16–30.</a:t>
            </a:r>
            <a:endParaRPr sz="2700">
              <a:highlight>
                <a:srgbClr val="FFFFFF"/>
              </a:highlight>
              <a:latin typeface="Arial"/>
              <a:ea typeface="Arial"/>
              <a:cs typeface="Arial"/>
              <a:sym typeface="Arial"/>
            </a:endParaRPr>
          </a:p>
          <a:p>
            <a:pPr indent="0" lvl="0" marL="0" rtl="0" algn="l">
              <a:lnSpc>
                <a:spcPct val="91064"/>
              </a:lnSpc>
              <a:spcBef>
                <a:spcPts val="0"/>
              </a:spcBef>
              <a:spcAft>
                <a:spcPts val="0"/>
              </a:spcAft>
              <a:buClr>
                <a:schemeClr val="dk1"/>
              </a:buClr>
              <a:buSzPct val="40740"/>
              <a:buFont typeface="Arial"/>
              <a:buNone/>
            </a:pPr>
            <a:r>
              <a:t/>
            </a:r>
            <a:endParaRPr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rPr b="1" lang="en-US" sz="2700">
                <a:highlight>
                  <a:srgbClr val="FFFFFF"/>
                </a:highlight>
                <a:latin typeface="Arial"/>
                <a:ea typeface="Arial"/>
                <a:cs typeface="Arial"/>
                <a:sym typeface="Arial"/>
              </a:rPr>
              <a:t>ADVANTAGES:</a:t>
            </a:r>
            <a:endParaRPr b="1"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t/>
            </a:r>
            <a:endParaRPr b="1"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1</a:t>
            </a:r>
            <a:r>
              <a:rPr b="1" lang="en-US" sz="2700">
                <a:highlight>
                  <a:srgbClr val="FFFFFF"/>
                </a:highlight>
                <a:latin typeface="Arial"/>
                <a:ea typeface="Arial"/>
                <a:cs typeface="Arial"/>
                <a:sym typeface="Arial"/>
              </a:rPr>
              <a:t>.</a:t>
            </a:r>
            <a:r>
              <a:rPr lang="en-US" sz="2700">
                <a:highlight>
                  <a:srgbClr val="FFFFFF"/>
                </a:highlight>
                <a:latin typeface="Arial"/>
                <a:ea typeface="Arial"/>
                <a:cs typeface="Arial"/>
                <a:sym typeface="Arial"/>
              </a:rPr>
              <a:t>Efficiency and automation.</a:t>
            </a:r>
            <a:endParaRPr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2.Accuracy in standardised tasks.</a:t>
            </a:r>
            <a:endParaRPr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t/>
            </a:r>
            <a:endParaRPr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rPr b="1" lang="en-US" sz="2700">
                <a:highlight>
                  <a:srgbClr val="FFFFFF"/>
                </a:highlight>
                <a:latin typeface="Arial"/>
                <a:ea typeface="Arial"/>
                <a:cs typeface="Arial"/>
                <a:sym typeface="Arial"/>
              </a:rPr>
              <a:t>DISADVANTAGES:</a:t>
            </a:r>
            <a:endParaRPr b="1"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t/>
            </a:r>
            <a:endParaRPr b="1"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1.Data integrity issues.</a:t>
            </a:r>
            <a:endParaRPr sz="2700">
              <a:highlight>
                <a:srgbClr val="FFFFFF"/>
              </a:highlight>
              <a:latin typeface="Arial"/>
              <a:ea typeface="Arial"/>
              <a:cs typeface="Arial"/>
              <a:sym typeface="Arial"/>
            </a:endParaRPr>
          </a:p>
          <a:p>
            <a:pPr indent="0" lvl="0" marL="0" rtl="0" algn="l">
              <a:lnSpc>
                <a:spcPct val="89355"/>
              </a:lnSpc>
              <a:spcBef>
                <a:spcPts val="0"/>
              </a:spcBef>
              <a:spcAft>
                <a:spcPts val="0"/>
              </a:spcAft>
              <a:buClr>
                <a:schemeClr val="dk1"/>
              </a:buClr>
              <a:buSzPct val="40740"/>
              <a:buFont typeface="Arial"/>
              <a:buNone/>
            </a:pPr>
            <a:r>
              <a:rPr lang="en-US" sz="2700">
                <a:highlight>
                  <a:srgbClr val="FFFFFF"/>
                </a:highlight>
                <a:latin typeface="Arial"/>
                <a:ea typeface="Arial"/>
                <a:cs typeface="Arial"/>
                <a:sym typeface="Arial"/>
              </a:rPr>
              <a:t>2.Security risks.</a:t>
            </a:r>
            <a:endParaRPr sz="2700">
              <a:highlight>
                <a:srgbClr val="FFFFFF"/>
              </a:highlight>
              <a:latin typeface="Arial"/>
              <a:ea typeface="Arial"/>
              <a:cs typeface="Arial"/>
              <a:sym typeface="Arial"/>
            </a:endParaRPr>
          </a:p>
          <a:p>
            <a:pPr indent="-190500" lvl="0" marL="342900" rtl="0" algn="l">
              <a:lnSpc>
                <a:spcPct val="114000"/>
              </a:lnSpc>
              <a:spcBef>
                <a:spcPts val="480"/>
              </a:spcBef>
              <a:spcAft>
                <a:spcPts val="0"/>
              </a:spcAft>
              <a:buClr>
                <a:schemeClr val="dk1"/>
              </a:buClr>
              <a:buSzPct val="100000"/>
              <a:buFont typeface="Noto Sans Symbols"/>
              <a:buNone/>
            </a:pPr>
            <a:r>
              <a:t/>
            </a:r>
            <a:endParaRPr b="1"/>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Clr>
                <a:schemeClr val="dk1"/>
              </a:buClr>
              <a:buSzPts val="1100"/>
              <a:buFont typeface="Arial"/>
              <a:buNone/>
            </a:pPr>
            <a:r>
              <a:rPr lang="en-US"/>
              <a:t>The  Form-Filling Bot  is an automation solution developed using UiPath for data entry processes. It eliminates repetitive manual tasks by extracting data from sources like Excel or databases and populating forms accurately. This project enhances efficiency, reduces errors, and demonstrates the potential of RPA in optimizing routine administrative workflows. It eliminates repetitive manual tasks by extracting data from sources like Excel or databases and populating forms accurately.This also helps us to know the status of the form submission via email </a:t>
            </a:r>
            <a:r>
              <a:rPr lang="en-US"/>
              <a:t>acknowledgement</a:t>
            </a:r>
            <a:r>
              <a:rPr lang="en-US"/>
              <a:t>.</a:t>
            </a:r>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t/>
            </a:r>
            <a:endParaRPr/>
          </a:p>
        </p:txBody>
      </p:sp>
      <p:pic>
        <p:nvPicPr>
          <p:cNvPr id="142" name="Google Shape;142;p19"/>
          <p:cNvPicPr preferRelativeResize="0"/>
          <p:nvPr/>
        </p:nvPicPr>
        <p:blipFill>
          <a:blip r:embed="rId3">
            <a:alphaModFix/>
          </a:blip>
          <a:stretch>
            <a:fillRect/>
          </a:stretch>
        </p:blipFill>
        <p:spPr>
          <a:xfrm>
            <a:off x="152400" y="6477000"/>
            <a:ext cx="9525" cy="9525"/>
          </a:xfrm>
          <a:prstGeom prst="rect">
            <a:avLst/>
          </a:prstGeom>
          <a:noFill/>
          <a:ln>
            <a:noFill/>
          </a:ln>
        </p:spPr>
      </p:pic>
      <p:pic>
        <p:nvPicPr>
          <p:cNvPr id="143" name="Google Shape;143;p19"/>
          <p:cNvPicPr preferRelativeResize="0"/>
          <p:nvPr/>
        </p:nvPicPr>
        <p:blipFill>
          <a:blip r:embed="rId4">
            <a:alphaModFix/>
          </a:blip>
          <a:stretch>
            <a:fillRect/>
          </a:stretch>
        </p:blipFill>
        <p:spPr>
          <a:xfrm>
            <a:off x="3554100" y="1412200"/>
            <a:ext cx="2209800" cy="4625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50" name="Google Shape;150;p2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74650" lvl="0" marL="342900" rtl="0" algn="l">
              <a:lnSpc>
                <a:spcPct val="114000"/>
              </a:lnSpc>
              <a:spcBef>
                <a:spcPts val="0"/>
              </a:spcBef>
              <a:spcAft>
                <a:spcPts val="0"/>
              </a:spcAft>
              <a:buClr>
                <a:schemeClr val="dk1"/>
              </a:buClr>
              <a:buSzPts val="2900"/>
              <a:buChar char="▪"/>
            </a:pPr>
            <a:r>
              <a:rPr b="1" lang="en-US" sz="2900"/>
              <a:t>Hardware</a:t>
            </a:r>
            <a:endParaRPr b="1" sz="2900"/>
          </a:p>
          <a:p>
            <a:pPr indent="0" lvl="0" marL="342900" rtl="0" algn="l">
              <a:lnSpc>
                <a:spcPct val="114000"/>
              </a:lnSpc>
              <a:spcBef>
                <a:spcPts val="0"/>
              </a:spcBef>
              <a:spcAft>
                <a:spcPts val="0"/>
              </a:spcAft>
              <a:buNone/>
            </a:pPr>
            <a:r>
              <a:rPr lang="en-US"/>
              <a:t>1.A device with uipath studio.</a:t>
            </a:r>
            <a:endParaRPr/>
          </a:p>
          <a:p>
            <a:pPr indent="0" lvl="0" marL="342900" rtl="0" algn="l">
              <a:lnSpc>
                <a:spcPct val="114000"/>
              </a:lnSpc>
              <a:spcBef>
                <a:spcPts val="0"/>
              </a:spcBef>
              <a:spcAft>
                <a:spcPts val="0"/>
              </a:spcAft>
              <a:buNone/>
            </a:pPr>
            <a:r>
              <a:t/>
            </a:r>
            <a:endParaRPr/>
          </a:p>
          <a:p>
            <a:pPr indent="0" lvl="0" marL="342900" rtl="0" algn="l">
              <a:lnSpc>
                <a:spcPct val="114000"/>
              </a:lnSpc>
              <a:spcBef>
                <a:spcPts val="0"/>
              </a:spcBef>
              <a:spcAft>
                <a:spcPts val="0"/>
              </a:spcAft>
              <a:buNone/>
            </a:pPr>
            <a:r>
              <a:rPr lang="en-US"/>
              <a:t>2.Network connection.</a:t>
            </a:r>
            <a:endParaRPr/>
          </a:p>
          <a:p>
            <a:pPr indent="0" lvl="0" marL="342900" rtl="0" algn="l">
              <a:lnSpc>
                <a:spcPct val="114000"/>
              </a:lnSpc>
              <a:spcBef>
                <a:spcPts val="0"/>
              </a:spcBef>
              <a:spcAft>
                <a:spcPts val="0"/>
              </a:spcAft>
              <a:buNone/>
            </a:pPr>
            <a:r>
              <a:t/>
            </a:r>
            <a:endParaRPr/>
          </a:p>
          <a:p>
            <a:pPr indent="-374650" lvl="0" marL="342900" rtl="0" algn="l">
              <a:lnSpc>
                <a:spcPct val="114000"/>
              </a:lnSpc>
              <a:spcBef>
                <a:spcPts val="480"/>
              </a:spcBef>
              <a:spcAft>
                <a:spcPts val="0"/>
              </a:spcAft>
              <a:buClr>
                <a:schemeClr val="dk1"/>
              </a:buClr>
              <a:buSzPts val="2900"/>
              <a:buChar char="▪"/>
            </a:pPr>
            <a:r>
              <a:rPr b="1" lang="en-US" sz="2900"/>
              <a:t>Software</a:t>
            </a:r>
            <a:endParaRPr b="1" sz="2900"/>
          </a:p>
          <a:p>
            <a:pPr indent="0" lvl="0" marL="342900" rtl="0" algn="l">
              <a:lnSpc>
                <a:spcPct val="114000"/>
              </a:lnSpc>
              <a:spcBef>
                <a:spcPts val="480"/>
              </a:spcBef>
              <a:spcAft>
                <a:spcPts val="0"/>
              </a:spcAft>
              <a:buNone/>
            </a:pPr>
            <a:r>
              <a:rPr lang="en-US"/>
              <a:t>1.uipath studio.</a:t>
            </a:r>
            <a:endParaRPr/>
          </a:p>
          <a:p>
            <a:pPr indent="0" lvl="0" marL="342900" rtl="0" algn="l">
              <a:lnSpc>
                <a:spcPct val="114000"/>
              </a:lnSpc>
              <a:spcBef>
                <a:spcPts val="480"/>
              </a:spcBef>
              <a:spcAft>
                <a:spcPts val="0"/>
              </a:spcAft>
              <a:buNone/>
            </a:pPr>
            <a:r>
              <a:t/>
            </a:r>
            <a:endParaRPr sz="2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7" name="Google Shape;157;p2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b="1" lang="en-US"/>
              <a:t>Form Population</a:t>
            </a:r>
            <a:r>
              <a:rPr lang="en-US"/>
              <a:t>: Once the data is validated, the bot automatically fills the fields of web-based or desktop forms. It eliminates manual typing, ensuring that data is entered without errors.</a:t>
            </a:r>
            <a:endParaRPr/>
          </a:p>
          <a:p>
            <a:pPr indent="0" lvl="0" marL="342900" rtl="0" algn="l">
              <a:lnSpc>
                <a:spcPct val="114000"/>
              </a:lnSpc>
              <a:spcBef>
                <a:spcPts val="0"/>
              </a:spcBef>
              <a:spcAft>
                <a:spcPts val="0"/>
              </a:spcAft>
              <a:buNone/>
            </a:pPr>
            <a:r>
              <a:t/>
            </a:r>
            <a:endParaRPr/>
          </a:p>
          <a:p>
            <a:pPr indent="0" lvl="0" marL="342900" rtl="0" algn="l">
              <a:lnSpc>
                <a:spcPct val="114000"/>
              </a:lnSpc>
              <a:spcBef>
                <a:spcPts val="0"/>
              </a:spcBef>
              <a:spcAft>
                <a:spcPts val="0"/>
              </a:spcAft>
              <a:buNone/>
            </a:pPr>
            <a:r>
              <a:rPr b="1" lang="en-US"/>
              <a:t>Report Generation</a:t>
            </a:r>
            <a:r>
              <a:rPr lang="en-US"/>
              <a:t>: After form submission, the bot generates detailed status reports, summarizing the results of the form-filling process and any errors encountered. These are saved for further reference and analysis.</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Table Design</a:t>
            </a:r>
            <a:endParaRPr>
              <a:latin typeface="Calibri"/>
              <a:ea typeface="Calibri"/>
              <a:cs typeface="Calibri"/>
              <a:sym typeface="Calibri"/>
            </a:endParaRPr>
          </a:p>
        </p:txBody>
      </p:sp>
      <p:sp>
        <p:nvSpPr>
          <p:cNvPr id="164" name="Google Shape;164;p2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t/>
            </a:r>
            <a:endParaRPr/>
          </a:p>
        </p:txBody>
      </p:sp>
      <p:pic>
        <p:nvPicPr>
          <p:cNvPr id="165" name="Google Shape;165;p22"/>
          <p:cNvPicPr preferRelativeResize="0"/>
          <p:nvPr/>
        </p:nvPicPr>
        <p:blipFill>
          <a:blip r:embed="rId3">
            <a:alphaModFix/>
          </a:blip>
          <a:stretch>
            <a:fillRect/>
          </a:stretch>
        </p:blipFill>
        <p:spPr>
          <a:xfrm>
            <a:off x="1919300" y="1383200"/>
            <a:ext cx="5305425" cy="44365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72" name="Google Shape;172;p2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b="1" lang="en-US"/>
              <a:t>Main Process</a:t>
            </a:r>
            <a:endParaRPr b="1"/>
          </a:p>
          <a:p>
            <a:pPr indent="0" lvl="0" marL="342900" rtl="0" algn="l">
              <a:lnSpc>
                <a:spcPct val="114000"/>
              </a:lnSpc>
              <a:spcBef>
                <a:spcPts val="480"/>
              </a:spcBef>
              <a:spcAft>
                <a:spcPts val="0"/>
              </a:spcAft>
              <a:buNone/>
            </a:pPr>
            <a:r>
              <a:rPr lang="en-US"/>
              <a:t>To submit the form by importing the details from the excel sheet and after </a:t>
            </a:r>
            <a:r>
              <a:rPr lang="en-US"/>
              <a:t>submitting the form the user gets the mail that the form has been submitted successfully.</a:t>
            </a:r>
            <a:endParaRPr/>
          </a:p>
          <a:p>
            <a:pPr indent="0" lvl="0" marL="342900" rtl="0" algn="l">
              <a:lnSpc>
                <a:spcPct val="114000"/>
              </a:lnSpc>
              <a:spcBef>
                <a:spcPts val="480"/>
              </a:spcBef>
              <a:spcAft>
                <a:spcPts val="0"/>
              </a:spcAft>
              <a:buNone/>
            </a:pPr>
            <a:r>
              <a:rPr b="1" lang="en-US"/>
              <a:t>sub process</a:t>
            </a:r>
            <a:endParaRPr b="1"/>
          </a:p>
          <a:p>
            <a:pPr indent="0" lvl="0" marL="342900" rtl="0" algn="l">
              <a:lnSpc>
                <a:spcPct val="114000"/>
              </a:lnSpc>
              <a:spcBef>
                <a:spcPts val="480"/>
              </a:spcBef>
              <a:spcAft>
                <a:spcPts val="0"/>
              </a:spcAft>
              <a:buNone/>
            </a:pPr>
            <a:r>
              <a:rPr lang="en-US"/>
              <a:t>use excel related activities to import the data from the excel to the form and use the click activity to specify the fields in which the data to be entered and also the submit button and use the smtp activity to receive the mail message and finally a message box to display the success message.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79" name="Google Shape;179;p2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80" name="Google Shape;180;p24"/>
          <p:cNvPicPr preferRelativeResize="0"/>
          <p:nvPr/>
        </p:nvPicPr>
        <p:blipFill>
          <a:blip r:embed="rId3">
            <a:alphaModFix/>
          </a:blip>
          <a:stretch>
            <a:fillRect/>
          </a:stretch>
        </p:blipFill>
        <p:spPr>
          <a:xfrm>
            <a:off x="3139238" y="1233513"/>
            <a:ext cx="2314575" cy="1781175"/>
          </a:xfrm>
          <a:prstGeom prst="rect">
            <a:avLst/>
          </a:prstGeom>
          <a:noFill/>
          <a:ln>
            <a:noFill/>
          </a:ln>
        </p:spPr>
      </p:pic>
      <p:pic>
        <p:nvPicPr>
          <p:cNvPr id="181" name="Google Shape;181;p24"/>
          <p:cNvPicPr preferRelativeResize="0"/>
          <p:nvPr/>
        </p:nvPicPr>
        <p:blipFill>
          <a:blip r:embed="rId4">
            <a:alphaModFix/>
          </a:blip>
          <a:stretch>
            <a:fillRect/>
          </a:stretch>
        </p:blipFill>
        <p:spPr>
          <a:xfrm>
            <a:off x="274650" y="3014688"/>
            <a:ext cx="9029700" cy="2828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88" name="Google Shape;188;p2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4000"/>
              </a:lnSpc>
              <a:spcBef>
                <a:spcPts val="0"/>
              </a:spcBef>
              <a:spcAft>
                <a:spcPts val="0"/>
              </a:spcAft>
              <a:buNone/>
            </a:pPr>
            <a:r>
              <a:rPr lang="en-US"/>
              <a:t>The Form-Filling Bot project successfully automates the data entry and form submission process, significantly improving efficiency and accuracy in handling repetitive tasks. By leveraging UiPath's Robotic Process Automation (RPA) technology, the bot extracts data, fills forms, handles errors, and generates reports,  eliminating  manual  intervention.  This  automation  not  only  reduces human  errors  but  also  saves  time,  cuts  costs,  and  enhances  operational productivity. The system’s integration with email notifications and database storage further streamlines communication and record-keeping. Ultimately, the Form-Filling Bot provides a reliable, scalable, and cost-effective solution for businesses seeking to optimize their workflow. By leveraging UiPath's Robotic Process  Automation  (RPA) technology,  the  bot  extracts  data,  fills  forms, handles errors, and generates reports, eliminating manual intervention. This automation not only reduces human errors but also saves time, cuts costs, and enhances  operational  productivity.  The  system’s  integration  with  email notifications and database storage further streamlines communication and record- keeping.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195" name="Google Shape;195;p2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r>
              <a:rPr lang="en-US" sz="2000">
                <a:latin typeface="Arial"/>
                <a:ea typeface="Arial"/>
                <a:cs typeface="Arial"/>
                <a:sym typeface="Arial"/>
              </a:rPr>
              <a:t> </a:t>
            </a:r>
            <a:r>
              <a:rPr b="1" lang="en-US" sz="2000">
                <a:latin typeface="Arial"/>
                <a:ea typeface="Arial"/>
                <a:cs typeface="Arial"/>
                <a:sym typeface="Arial"/>
              </a:rPr>
              <a:t>1</a:t>
            </a:r>
            <a:r>
              <a:rPr lang="en-US" sz="2000">
                <a:latin typeface="Arial"/>
                <a:ea typeface="Arial"/>
                <a:cs typeface="Arial"/>
                <a:sym typeface="Arial"/>
              </a:rPr>
              <a:t>. </a:t>
            </a:r>
            <a:r>
              <a:rPr lang="en-US" sz="1100">
                <a:latin typeface="Arial"/>
                <a:ea typeface="Arial"/>
                <a:cs typeface="Arial"/>
                <a:sym typeface="Arial"/>
              </a:rPr>
              <a:t> </a:t>
            </a:r>
            <a:r>
              <a:rPr lang="en-US" sz="2100">
                <a:latin typeface="Arial"/>
                <a:ea typeface="Arial"/>
                <a:cs typeface="Arial"/>
                <a:sym typeface="Arial"/>
              </a:rPr>
              <a:t> </a:t>
            </a:r>
            <a:r>
              <a:rPr b="1" lang="en-US" sz="2100">
                <a:latin typeface="Arial"/>
                <a:ea typeface="Arial"/>
                <a:cs typeface="Arial"/>
                <a:sym typeface="Arial"/>
              </a:rPr>
              <a:t>Integration with AI/ML</a:t>
            </a:r>
            <a:endParaRPr b="1"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2100">
              <a:latin typeface="Arial"/>
              <a:ea typeface="Arial"/>
              <a:cs typeface="Arial"/>
              <a:sym typeface="Arial"/>
            </a:endParaRPr>
          </a:p>
          <a:p>
            <a:pPr indent="0" lvl="0" marL="0" rtl="0" algn="l">
              <a:lnSpc>
                <a:spcPct val="115000"/>
              </a:lnSpc>
              <a:spcBef>
                <a:spcPts val="1200"/>
              </a:spcBef>
              <a:spcAft>
                <a:spcPts val="0"/>
              </a:spcAft>
              <a:buNone/>
            </a:pPr>
            <a:r>
              <a:rPr b="1" lang="en-US" sz="2100">
                <a:latin typeface="Arial"/>
                <a:ea typeface="Arial"/>
                <a:cs typeface="Arial"/>
                <a:sym typeface="Arial"/>
              </a:rPr>
              <a:t>       2.  Enhanced Bot Detection</a:t>
            </a:r>
            <a:r>
              <a:rPr lang="en-US" sz="2100">
                <a:latin typeface="Arial"/>
                <a:ea typeface="Arial"/>
                <a:cs typeface="Arial"/>
                <a:sym typeface="Arial"/>
              </a:rPr>
              <a:t>.</a:t>
            </a:r>
            <a:br>
              <a:rPr lang="en-US" sz="2100">
                <a:latin typeface="Arial"/>
                <a:ea typeface="Arial"/>
                <a:cs typeface="Arial"/>
                <a:sym typeface="Arial"/>
              </a:rPr>
            </a:br>
            <a:endParaRPr sz="2100">
              <a:latin typeface="Arial"/>
              <a:ea typeface="Arial"/>
              <a:cs typeface="Arial"/>
              <a:sym typeface="Arial"/>
            </a:endParaRPr>
          </a:p>
          <a:p>
            <a:pPr indent="0" lvl="0" marL="0" rtl="0" algn="l">
              <a:lnSpc>
                <a:spcPct val="115000"/>
              </a:lnSpc>
              <a:spcBef>
                <a:spcPts val="1200"/>
              </a:spcBef>
              <a:spcAft>
                <a:spcPts val="0"/>
              </a:spcAft>
              <a:buNone/>
            </a:pPr>
            <a:r>
              <a:rPr b="1" lang="en-US" sz="2100">
                <a:latin typeface="Arial"/>
                <a:ea typeface="Arial"/>
                <a:cs typeface="Arial"/>
                <a:sym typeface="Arial"/>
              </a:rPr>
              <a:t>       3. Security Measures</a:t>
            </a:r>
            <a:r>
              <a:rPr lang="en-US" sz="2100">
                <a:latin typeface="Arial"/>
                <a:ea typeface="Arial"/>
                <a:cs typeface="Arial"/>
                <a:sym typeface="Arial"/>
              </a:rPr>
              <a:t>.</a:t>
            </a:r>
            <a:br>
              <a:rPr lang="en-US" sz="2100">
                <a:latin typeface="Arial"/>
                <a:ea typeface="Arial"/>
                <a:cs typeface="Arial"/>
                <a:sym typeface="Arial"/>
              </a:rPr>
            </a:br>
            <a:endParaRPr sz="2100">
              <a:latin typeface="Arial"/>
              <a:ea typeface="Arial"/>
              <a:cs typeface="Arial"/>
              <a:sym typeface="Arial"/>
            </a:endParaRPr>
          </a:p>
          <a:p>
            <a:pPr indent="0" lvl="0" marL="457200" rtl="0" algn="l">
              <a:lnSpc>
                <a:spcPct val="115000"/>
              </a:lnSpc>
              <a:spcBef>
                <a:spcPts val="1200"/>
              </a:spcBef>
              <a:spcAft>
                <a:spcPts val="0"/>
              </a:spcAft>
              <a:buNone/>
            </a:pPr>
            <a:r>
              <a:rPr b="1" lang="en-US" sz="2100">
                <a:latin typeface="Arial"/>
                <a:ea typeface="Arial"/>
                <a:cs typeface="Arial"/>
                <a:sym typeface="Arial"/>
              </a:rPr>
              <a:t> 4. User Experience Improvements</a:t>
            </a:r>
            <a:endParaRPr b="1" sz="2100">
              <a:latin typeface="Arial"/>
              <a:ea typeface="Arial"/>
              <a:cs typeface="Arial"/>
              <a:sym typeface="Arial"/>
            </a:endParaRPr>
          </a:p>
          <a:p>
            <a:pPr indent="0" lvl="0" marL="0" rtl="0" algn="l">
              <a:lnSpc>
                <a:spcPct val="115000"/>
              </a:lnSpc>
              <a:spcBef>
                <a:spcPts val="1200"/>
              </a:spcBef>
              <a:spcAft>
                <a:spcPts val="0"/>
              </a:spcAft>
              <a:buNone/>
            </a:pPr>
            <a:r>
              <a:t/>
            </a:r>
            <a:endParaRPr b="1" sz="2100">
              <a:latin typeface="Arial"/>
              <a:ea typeface="Arial"/>
              <a:cs typeface="Arial"/>
              <a:sym typeface="Arial"/>
            </a:endParaRPr>
          </a:p>
          <a:p>
            <a:pPr indent="0" lvl="0" marL="457200" rtl="0" algn="l">
              <a:lnSpc>
                <a:spcPct val="115000"/>
              </a:lnSpc>
              <a:spcBef>
                <a:spcPts val="1200"/>
              </a:spcBef>
              <a:spcAft>
                <a:spcPts val="0"/>
              </a:spcAft>
              <a:buNone/>
            </a:pPr>
            <a:r>
              <a:rPr b="1" lang="en-US" sz="2100">
                <a:latin typeface="Arial"/>
                <a:ea typeface="Arial"/>
                <a:cs typeface="Arial"/>
                <a:sym typeface="Arial"/>
              </a:rPr>
              <a:t> 5.Multi-Language Support</a:t>
            </a:r>
            <a:br>
              <a:rPr lang="en-US" sz="2100">
                <a:latin typeface="Arial"/>
                <a:ea typeface="Arial"/>
                <a:cs typeface="Arial"/>
                <a:sym typeface="Arial"/>
              </a:rPr>
            </a:br>
            <a:endParaRPr sz="2100">
              <a:latin typeface="Arial"/>
              <a:ea typeface="Arial"/>
              <a:cs typeface="Arial"/>
              <a:sym typeface="Arial"/>
            </a:endParaRPr>
          </a:p>
          <a:p>
            <a:pPr indent="0" lvl="0" marL="152400" rtl="0" algn="l">
              <a:lnSpc>
                <a:spcPct val="114000"/>
              </a:lnSpc>
              <a:spcBef>
                <a:spcPts val="1200"/>
              </a:spcBef>
              <a:spcAft>
                <a:spcPts val="0"/>
              </a:spcAft>
              <a:buClr>
                <a:schemeClr val="dk1"/>
              </a:buClr>
              <a:buSzPts val="2400"/>
              <a:buFont typeface="Noto Sans Symbols"/>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02" name="Google Shape;202;p2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a:t>1. Avasarala,  V.  (2019).  Robotic  Process  Automation:  The  Next Transformation  in  Digital  Transformation.  International  Journal  of Advanced Research in Computer Science, 10(3), 5-12.</a:t>
            </a:r>
            <a:endParaRPr/>
          </a:p>
          <a:p>
            <a:pPr indent="0" lvl="0" marL="342900" rtl="0" algn="l">
              <a:spcBef>
                <a:spcPts val="0"/>
              </a:spcBef>
              <a:spcAft>
                <a:spcPts val="0"/>
              </a:spcAft>
              <a:buNone/>
            </a:pPr>
            <a:r>
              <a:t/>
            </a:r>
            <a:endParaRPr/>
          </a:p>
          <a:p>
            <a:pPr indent="0" lvl="0" marL="342900" rtl="0" algn="l">
              <a:spcBef>
                <a:spcPts val="0"/>
              </a:spcBef>
              <a:spcAft>
                <a:spcPts val="0"/>
              </a:spcAft>
              <a:buClr>
                <a:schemeClr val="dk1"/>
              </a:buClr>
              <a:buSzPts val="1100"/>
              <a:buFont typeface="Arial"/>
              <a:buNone/>
            </a:pPr>
            <a:r>
              <a:t/>
            </a:r>
            <a:endParaRPr/>
          </a:p>
          <a:p>
            <a:pPr indent="0" lvl="0" marL="342900" rtl="0" algn="l">
              <a:spcBef>
                <a:spcPts val="0"/>
              </a:spcBef>
              <a:spcAft>
                <a:spcPts val="0"/>
              </a:spcAft>
              <a:buClr>
                <a:schemeClr val="dk1"/>
              </a:buClr>
              <a:buSzPts val="1100"/>
              <a:buFont typeface="Arial"/>
              <a:buNone/>
            </a:pPr>
            <a:r>
              <a:rPr lang="en-US"/>
              <a:t>2. Lacity, M. C., &amp; Willcocks, L. P. (2016). A Survey on Robotic Process Automation in Business. Journal of Information Technology, 31(2), 174- 183.</a:t>
            </a:r>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9600">
              <a:solidFill>
                <a:schemeClr val="dk1"/>
              </a:solidFill>
              <a:latin typeface="Calibri"/>
              <a:ea typeface="Calibri"/>
              <a:cs typeface="Calibri"/>
              <a:sym typeface="Calibri"/>
            </a:endParaRPr>
          </a:p>
        </p:txBody>
      </p:sp>
      <p:pic>
        <p:nvPicPr>
          <p:cNvPr id="215" name="Google Shape;215;p29"/>
          <p:cNvPicPr preferRelativeResize="0"/>
          <p:nvPr/>
        </p:nvPicPr>
        <p:blipFill>
          <a:blip r:embed="rId3">
            <a:alphaModFix/>
          </a:blip>
          <a:stretch>
            <a:fillRect/>
          </a:stretch>
        </p:blipFill>
        <p:spPr>
          <a:xfrm>
            <a:off x="1544300" y="157346"/>
            <a:ext cx="5202650" cy="1472325"/>
          </a:xfrm>
          <a:prstGeom prst="rect">
            <a:avLst/>
          </a:prstGeom>
          <a:noFill/>
          <a:ln>
            <a:noFill/>
          </a:ln>
        </p:spPr>
      </p:pic>
      <p:pic>
        <p:nvPicPr>
          <p:cNvPr id="216" name="Google Shape;216;p29"/>
          <p:cNvPicPr preferRelativeResize="0"/>
          <p:nvPr/>
        </p:nvPicPr>
        <p:blipFill>
          <a:blip r:embed="rId4">
            <a:alphaModFix/>
          </a:blip>
          <a:stretch>
            <a:fillRect/>
          </a:stretch>
        </p:blipFill>
        <p:spPr>
          <a:xfrm>
            <a:off x="1544300" y="1868250"/>
            <a:ext cx="5202650" cy="1472325"/>
          </a:xfrm>
          <a:prstGeom prst="rect">
            <a:avLst/>
          </a:prstGeom>
          <a:noFill/>
          <a:ln>
            <a:noFill/>
          </a:ln>
        </p:spPr>
      </p:pic>
      <p:pic>
        <p:nvPicPr>
          <p:cNvPr id="217" name="Google Shape;217;p29"/>
          <p:cNvPicPr preferRelativeResize="0"/>
          <p:nvPr/>
        </p:nvPicPr>
        <p:blipFill>
          <a:blip r:embed="rId5">
            <a:alphaModFix/>
          </a:blip>
          <a:stretch>
            <a:fillRect/>
          </a:stretch>
        </p:blipFill>
        <p:spPr>
          <a:xfrm>
            <a:off x="1670275" y="3666100"/>
            <a:ext cx="5076675" cy="1569675"/>
          </a:xfrm>
          <a:prstGeom prst="rect">
            <a:avLst/>
          </a:prstGeom>
          <a:noFill/>
          <a:ln>
            <a:noFill/>
          </a:ln>
        </p:spPr>
      </p:pic>
      <p:pic>
        <p:nvPicPr>
          <p:cNvPr id="218" name="Google Shape;218;p29"/>
          <p:cNvPicPr preferRelativeResize="0"/>
          <p:nvPr/>
        </p:nvPicPr>
        <p:blipFill>
          <a:blip r:embed="rId6">
            <a:alphaModFix/>
          </a:blip>
          <a:stretch>
            <a:fillRect/>
          </a:stretch>
        </p:blipFill>
        <p:spPr>
          <a:xfrm>
            <a:off x="1754850" y="5561300"/>
            <a:ext cx="5286375" cy="1227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